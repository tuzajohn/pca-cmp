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82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5170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13716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Stanbic Risk Team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274320" y="19659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7722"/>
                </a:solidFill>
              </a:rPr>
              <a:t>On-Site Assurance Visit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74320" y="2606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D0B0"/>
                </a:solidFill>
              </a:rPr>
              <a:t>Payroll Consults Africa Limited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74320" y="3063240"/>
            <a:ext cx="36576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3200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</a:rPr>
              <a:t>Date: </a:t>
            </a:r>
            <a:r>
              <a:rPr lang="en-US" sz="1300" dirty="0">
                <a:solidFill>
                  <a:srgbClr val="FFFFFF"/>
                </a:solidFill>
              </a:rPr>
              <a:t>Thursday, 5th June 2026  </a:t>
            </a:r>
            <a:r>
              <a:rPr lang="en-US" sz="1300" dirty="0">
                <a:solidFill>
                  <a:srgbClr val="888888"/>
                </a:solidFill>
              </a:rPr>
              <a:t>  |  </a:t>
            </a:r>
            <a:r>
              <a:rPr lang="en-US" sz="1300" b="1" dirty="0">
                <a:solidFill>
                  <a:srgbClr val="E87722"/>
                </a:solidFill>
              </a:rPr>
              <a:t>Time: </a:t>
            </a:r>
            <a:r>
              <a:rPr lang="en-US" sz="1300" dirty="0">
                <a:solidFill>
                  <a:srgbClr val="FFFFFF"/>
                </a:solidFill>
              </a:rPr>
              <a:t>9:00 AM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3611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D0B0"/>
                </a:solidFill>
              </a:rPr>
              <a:t>Presented by: Tuza John  |  Senior Systems Administrator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75120" y="457200"/>
            <a:ext cx="2286000" cy="429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0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B22222"/>
                </a:solidFill>
              </a:rPr>
              <a:t>AGENDA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0" y="822960"/>
            <a:ext cx="1920240" cy="274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914400"/>
            <a:ext cx="219456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1. Introductions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2084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2. Control Environment Update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72084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3. Business Resilience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2084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4. Access Management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2084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5. Incident Management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720840" y="3429000"/>
            <a:ext cx="219456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6. Change Management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72084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7. AOB &amp; Closure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7525B61-33D1-C0A4-EAF6-252424898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77"/>
            <a:ext cx="2194560" cy="5573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571500"/>
            <a:ext cx="2194560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8293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ITEM 1 — INTRODUCTIONS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22222"/>
                </a:solidFill>
              </a:rPr>
              <a:t>About Payroll Consults Africa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40233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2222"/>
                </a:solidFill>
              </a:rPr>
              <a:t>Who We Are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PCA operates the Payroll Deductions Management System (PDMS), enabling financial institutions to manage loan repayments for Public Service employees through automated payroll deductions.
</a:t>
            </a:r>
            <a:r>
              <a:rPr lang="en-US" sz="1100" b="1" dirty="0">
                <a:solidFill>
                  <a:srgbClr val="444444"/>
                </a:solidFill>
              </a:rPr>
              <a:t>We serve as a trusted partner to: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7432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</a:rPr>
              <a:t>Uganda Bankers Association (UBA)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</a:rPr>
              <a:t>Uganda Consumer Lenders Association (UCLA)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</a:rPr>
              <a:t>Ministry of Public Service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</a:rPr>
              <a:t>Beneficiary Civil Servants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508760"/>
            <a:ext cx="402336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46320" y="1536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2222"/>
                </a:solidFill>
              </a:rPr>
              <a:t>PCA Attendees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846320" y="1783080"/>
            <a:ext cx="3657600" cy="5943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1828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2222"/>
                </a:solidFill>
              </a:rPr>
              <a:t>Hannington Musinguzi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7760" y="20848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Chief Executive Officer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0" y="2404872"/>
            <a:ext cx="3657600" cy="5943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2450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2222"/>
                </a:solidFill>
              </a:rPr>
              <a:t>Susan Matsiko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37760" y="27066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General Manager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46320" y="3026664"/>
            <a:ext cx="3657600" cy="5943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37760" y="30723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2222"/>
                </a:solidFill>
              </a:rPr>
              <a:t>Tuza John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37760" y="33284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Senior Systems Administrator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46320" y="3648456"/>
            <a:ext cx="3657600" cy="5943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37760" y="36941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2222"/>
                </a:solidFill>
              </a:rPr>
              <a:t>Bashaba Dianah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37760" y="39502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Client Relationship Manager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Payroll Consults Africa Limited  |  Confidential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943600" y="49011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Item 1 — Introductions</a:t>
            </a:r>
            <a:endParaRPr lang="en-US" sz="8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37764F5-5F4B-839A-EAB1-0EDD5D2D1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77"/>
            <a:ext cx="2194560" cy="5573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602815"/>
            <a:ext cx="2194560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12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ITEM 2 — CONTROL ENVIRONMENT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22222"/>
                </a:solidFill>
              </a:rPr>
              <a:t>Control Environment Update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527048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Document Ref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737360" y="1527048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Policy Title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17920" y="1527048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Version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06640" y="1527048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Status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874520"/>
            <a:ext cx="54864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9476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</a:rPr>
              <a:t>PCA-CMP-001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737360" y="19476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Change Management Process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19476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v1.2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06640" y="1965960"/>
            <a:ext cx="1005840" cy="274320"/>
          </a:xfrm>
          <a:prstGeom prst="rect">
            <a:avLst/>
          </a:prstGeom>
          <a:solidFill>
            <a:srgbClr val="FFF3E8"/>
          </a:solidFill>
          <a:ln w="6350">
            <a:solidFill>
              <a:srgbClr val="E877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40" y="1965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5800"/>
                </a:solidFill>
              </a:rPr>
              <a:t>✓ Reviewed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2377440"/>
            <a:ext cx="54864" cy="457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4505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</a:rPr>
              <a:t>PCA-IAM-001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737360" y="245059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Identity &amp; Access Management Policy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17920" y="24505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v1.1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406640" y="2468880"/>
            <a:ext cx="1005840" cy="274320"/>
          </a:xfrm>
          <a:prstGeom prst="rect">
            <a:avLst/>
          </a:prstGeom>
          <a:solidFill>
            <a:srgbClr val="FFF3E8"/>
          </a:solidFill>
          <a:ln w="6350">
            <a:solidFill>
              <a:srgbClr val="E877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06640" y="2468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5800"/>
                </a:solidFill>
              </a:rPr>
              <a:t>✓ Reviewed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2880360"/>
            <a:ext cx="54864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29535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</a:rPr>
              <a:t>PCA-PAM-001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737360" y="29535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Privileged Access Management Policy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217920" y="29535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v1.1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406640" y="2971800"/>
            <a:ext cx="1005840" cy="274320"/>
          </a:xfrm>
          <a:prstGeom prst="rect">
            <a:avLst/>
          </a:prstGeom>
          <a:solidFill>
            <a:srgbClr val="FFF3E8"/>
          </a:solidFill>
          <a:ln w="6350">
            <a:solidFill>
              <a:srgbClr val="E8772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06640" y="2971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5800"/>
                </a:solidFill>
              </a:rPr>
              <a:t>✓ Reviewed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7200" y="3383280"/>
            <a:ext cx="54864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34564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</a:rPr>
              <a:t>PCA-VMP-001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737360" y="34564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Vulnerability Management Policy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217920" y="34564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v1.1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406640" y="3474720"/>
            <a:ext cx="1005840" cy="274320"/>
          </a:xfrm>
          <a:prstGeom prst="rect">
            <a:avLst/>
          </a:prstGeom>
          <a:solidFill>
            <a:srgbClr val="FFF3E8"/>
          </a:solidFill>
          <a:ln w="6350">
            <a:solidFill>
              <a:srgbClr val="E8772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406640" y="3474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5800"/>
                </a:solidFill>
              </a:rPr>
              <a:t>✓ Reviewed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57200" y="3886200"/>
            <a:ext cx="54864" cy="45720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39593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</a:rPr>
              <a:t>PCA-BCP-001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737360" y="395935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Business Continuity Plan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217920" y="39593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v1.2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406640" y="3977640"/>
            <a:ext cx="1005840" cy="274320"/>
          </a:xfrm>
          <a:prstGeom prst="rect">
            <a:avLst/>
          </a:prstGeom>
          <a:solidFill>
            <a:srgbClr val="FFF3E8"/>
          </a:solidFill>
          <a:ln w="6350">
            <a:solidFill>
              <a:srgbClr val="E8772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406640" y="3977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5800"/>
                </a:solidFill>
              </a:rPr>
              <a:t>✓ Reviewed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All documents reviewed and updated by Tuza John (Senior Systems Administrator) — June 2026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48" name="Text 45"/>
          <p:cNvSpPr/>
          <p:nvPr/>
        </p:nvSpPr>
        <p:spPr>
          <a:xfrm>
            <a:off x="27432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Payroll Consults Africa Limited  |  Confidential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943600" y="49011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Item 2 — Control Environment</a:t>
            </a:r>
            <a:endParaRPr lang="en-US" sz="8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3940AA6F-257D-991D-FF49-48A0CFD96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77"/>
            <a:ext cx="2194560" cy="5573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0635" y="578358"/>
            <a:ext cx="2194560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0635" y="580951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ITEM 3 — BUSINESS RESILIENCE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22222"/>
                </a:solidFill>
              </a:rPr>
              <a:t>Business Continuity &amp; DR Update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54864" cy="1554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7552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</a:rPr>
              <a:t>DR Environment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21792" y="198424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DRS located at Computer Point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Daily Snapshot</a:t>
            </a:r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99.9% uptime target</a:t>
            </a:r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Missing IP white listing at HCM </a:t>
            </a:r>
            <a:r>
              <a:rPr lang="en-US" sz="950" dirty="0" err="1">
                <a:solidFill>
                  <a:srgbClr val="444444"/>
                </a:solidFill>
              </a:rPr>
              <a:t>MoPS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800600" y="150876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00600" y="1508760"/>
            <a:ext cx="54864" cy="15544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6002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30952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722"/>
                </a:solidFill>
              </a:rPr>
              <a:t>BCM Document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965192" y="198424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PCA-BCP-001 v1.2  updated April 2026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Cross-referenced with CMP, IAM, PAM, VMP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Approved: Tuza John, Susan Matsiko, H. Musinguzi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57200" y="320040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57200" y="3200400"/>
            <a:ext cx="54864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9184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7552" y="3291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BCM Testing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21792" y="367588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Quarterly tabletop exercises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Biannual functional drills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Annual full-scale simulation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Unannounced tests conducted as needed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800600" y="320040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800600" y="3200400"/>
            <a:ext cx="54864" cy="1554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9184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30952" y="3291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</a:rPr>
              <a:t>BCM Schedule 2026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965192" y="367588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Q2: Tabletop  cybersecurity scenario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Q3: Functional drill  data recovery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Q4: Full-scale end-to-end simulation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Ongoing: Monthly system maintenance windows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27" name="Text 20"/>
          <p:cNvSpPr/>
          <p:nvPr/>
        </p:nvSpPr>
        <p:spPr>
          <a:xfrm>
            <a:off x="27432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Payroll Consults Africa Limited  |  Confidential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5943600" y="49011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Item 3 — Business Resilience</a:t>
            </a:r>
            <a:endParaRPr lang="en-US" sz="8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2285629-D6AB-0D1E-16CA-E4148FB261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1777"/>
            <a:ext cx="2194560" cy="5573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605614"/>
            <a:ext cx="2194560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0561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ITEM 4 — ACCESS MANAGEMENT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22222"/>
                </a:solidFill>
              </a:rPr>
              <a:t>Identity &amp; Access Management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402336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2222"/>
                </a:solidFill>
              </a:rPr>
              <a:t>Policies in Place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" y="1993392"/>
            <a:ext cx="3749040" cy="10972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993392"/>
            <a:ext cx="45720" cy="10972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20391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A1A"/>
                </a:solidFill>
              </a:rPr>
              <a:t>PCA-IAM-001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13232" y="22677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22222"/>
                </a:solidFill>
              </a:rPr>
              <a:t>IAM Policy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3232" y="24963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Governs logical access (PDMS), physical office &amp; server room access via biometric fingerprint controls.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3227832"/>
            <a:ext cx="3749040" cy="10972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3227832"/>
            <a:ext cx="45720" cy="10972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273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A1A"/>
                </a:solidFill>
              </a:rPr>
              <a:t>PCA-PAM-001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13232" y="35021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22222"/>
                </a:solidFill>
              </a:rPr>
              <a:t>PAM Policy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3232" y="373075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Governs privileged accounts, admin credentials, session logging, break-glass access &amp; monthly reviews.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63440" y="1508760"/>
            <a:ext cx="402336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4632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2222"/>
                </a:solidFill>
              </a:rPr>
              <a:t>Access Lifecycle Management</a:t>
            </a:r>
            <a:endParaRPr lang="en-US" sz="13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011680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12080" y="20025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722"/>
                </a:solidFill>
              </a:rPr>
              <a:t>Joiners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212080" y="2240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HR notifies 2 days prior. Account created, biometric enrolled, NDA signed before Day 1.</a:t>
            </a:r>
            <a:endParaRPr lang="en-US" sz="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706624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12080" y="26974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</a:rPr>
              <a:t>Movers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212080" y="293522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Excess access revoked within 24hrs of role change. New access provisioned simultaneously.</a:t>
            </a:r>
            <a:endParaRPr lang="en-US" sz="9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401568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12080" y="33924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Leavers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212080" y="36301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Logical &amp; physical access deactivated on last day (immediately for involuntary exits).</a:t>
            </a:r>
            <a:endParaRPr lang="en-US" sz="9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096512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12080" y="40873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Rectification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5212080" y="43251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Incorrect access identified, investigated, and revoked immediately. Root cause documented. | Reported on Incident Management Tool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3" name="Text 26"/>
          <p:cNvSpPr/>
          <p:nvPr/>
        </p:nvSpPr>
        <p:spPr>
          <a:xfrm>
            <a:off x="27432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Payroll Consults Africa Limited  |  Confidential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5943600" y="49011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Item 4 — Access Management</a:t>
            </a:r>
            <a:endParaRPr lang="en-US" sz="8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E65F2F5-611D-E106-D069-EC276B7948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1777"/>
            <a:ext cx="2194560" cy="5573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612648"/>
            <a:ext cx="2194560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12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ITEM 5 — INCIDENT MANAGEMENT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22222"/>
                </a:solidFill>
              </a:rPr>
              <a:t>Incident Management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solidFill>
            <a:srgbClr val="FFF3E8"/>
          </a:solidFill>
          <a:ln w="10160">
            <a:solidFill>
              <a:srgbClr val="E877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813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3A00"/>
                </a:solidFill>
              </a:rPr>
              <a:t>A dedicated Incident Management Policy (PCA-IMP-001) is hosted and only accessible by a chosen few. The below reflects current operational practice.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274320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103120"/>
            <a:ext cx="2743200" cy="548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1284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87552" y="2212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</a:rPr>
              <a:t>Policy Status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94360" y="2633472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Incident Management Policy (PCA-IMP-001)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Current process governed under BCP-001 Section 6.2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Incident classification: Low / Medium / High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Incidence </a:t>
            </a:r>
            <a:r>
              <a:rPr lang="en-US" sz="950">
                <a:solidFill>
                  <a:srgbClr val="444444"/>
                </a:solidFill>
              </a:rPr>
              <a:t>Report Team (IRT) </a:t>
            </a:r>
            <a:r>
              <a:rPr lang="en-US" sz="950" dirty="0">
                <a:solidFill>
                  <a:srgbClr val="444444"/>
                </a:solidFill>
              </a:rPr>
              <a:t>formed with defined roles and escalation matrix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355848" y="2103120"/>
            <a:ext cx="274320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55848" y="2103120"/>
            <a:ext cx="27432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221284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86200" y="2212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722"/>
                </a:solidFill>
              </a:rPr>
              <a:t>Process in Place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493008" y="2633472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Incidents classified within 10 minutes of identification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IRT activated immediately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Stakeholders notified within 15 minutes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Status updates every 30 minutes throughout incident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254496" y="2103120"/>
            <a:ext cx="274320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54496" y="210312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2212848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84848" y="2212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Incident Tool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391656" y="2633472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Digital incident management platform in use for tracking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All incidents logged with timestamp, severity, and resolution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Logs retained for audit minimum 24 months (server incidents)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</a:rPr>
              <a:t>Post-incident root cause analysis within 48 hours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24" name="Text 18"/>
          <p:cNvSpPr/>
          <p:nvPr/>
        </p:nvSpPr>
        <p:spPr>
          <a:xfrm>
            <a:off x="27432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Payroll Consults Africa Limited  |  Confidential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5943600" y="49011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Item 5 — Incident Management</a:t>
            </a:r>
            <a:endParaRPr lang="en-US" sz="8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3815802-B6CD-7ADC-BDAC-C4D5C32916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1777"/>
            <a:ext cx="2194560" cy="5573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571500"/>
            <a:ext cx="2194560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715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ITEM 6 — CHANGE MANAGEMENT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22222"/>
                </a:solidFill>
              </a:rPr>
              <a:t>Change Management Process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31520" y="1481328"/>
            <a:ext cx="594360" cy="5943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81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371600" y="1737360"/>
            <a:ext cx="384048" cy="914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2176272"/>
            <a:ext cx="1353312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2176272"/>
            <a:ext cx="1353312" cy="45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192" y="226771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</a:rPr>
              <a:t>Initiation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93192" y="2633472"/>
            <a:ext cx="12070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CR submitted with description, risk, rollback plan &amp; proposed window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176272" y="1481328"/>
            <a:ext cx="594360" cy="594360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76272" y="1481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2816352" y="1737360"/>
            <a:ext cx="384048" cy="914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764792" y="2176272"/>
            <a:ext cx="1353312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764792" y="2176272"/>
            <a:ext cx="1353312" cy="457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837944" y="226771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22222"/>
                </a:solidFill>
              </a:rPr>
              <a:t>Assessment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837944" y="2633472"/>
            <a:ext cx="12070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System Administrator classifies: Standard, Normal or Emergency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621024" y="1481328"/>
            <a:ext cx="594360" cy="5943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21024" y="1481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4261104" y="1737360"/>
            <a:ext cx="384048" cy="914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09544" y="2176272"/>
            <a:ext cx="1353312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09544" y="2176272"/>
            <a:ext cx="1353312" cy="45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82696" y="226771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</a:rPr>
              <a:t>Review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282696" y="2633472"/>
            <a:ext cx="12070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Internal Process Owners convene — CEO, GM &amp; Senior Sys Admin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065776" y="1481328"/>
            <a:ext cx="594360" cy="594360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65776" y="1481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705856" y="1737360"/>
            <a:ext cx="384048" cy="914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54296" y="2176272"/>
            <a:ext cx="1353312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654296" y="2176272"/>
            <a:ext cx="1353312" cy="457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27448" y="226771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22222"/>
                </a:solidFill>
              </a:rPr>
              <a:t>Implementation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27448" y="2633472"/>
            <a:ext cx="12070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Change applied in agreed off-peak window with real-time monitoring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510528" y="1481328"/>
            <a:ext cx="594360" cy="5943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10528" y="1481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7150608" y="1737360"/>
            <a:ext cx="384048" cy="914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099048" y="2176272"/>
            <a:ext cx="1353312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099048" y="2176272"/>
            <a:ext cx="1353312" cy="45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72200" y="226771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</a:rPr>
              <a:t>Verification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172200" y="2633472"/>
            <a:ext cx="12070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System tested, business unit sign-off obtained, deviations documented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7955280" y="1481328"/>
            <a:ext cx="594360" cy="594360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955280" y="1481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43" name="Shape 40"/>
          <p:cNvSpPr/>
          <p:nvPr/>
        </p:nvSpPr>
        <p:spPr>
          <a:xfrm>
            <a:off x="7543800" y="2176272"/>
            <a:ext cx="1353312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543800" y="2176272"/>
            <a:ext cx="1353312" cy="457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616952" y="226771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22222"/>
                </a:solidFill>
              </a:rPr>
              <a:t>Closure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616952" y="2633472"/>
            <a:ext cx="12070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Change Log updated, CR filed in document management tool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57200" y="4572000"/>
            <a:ext cx="8229600" cy="25603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48640" y="45811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7722"/>
                </a:solidFill>
              </a:rPr>
              <a:t>CR Reference Format: </a:t>
            </a:r>
            <a:r>
              <a:rPr lang="en-US" sz="950" dirty="0">
                <a:solidFill>
                  <a:srgbClr val="FFFFFF"/>
                </a:solidFill>
              </a:rPr>
              <a:t>PCA-CR-YYYYMM-####  |  </a:t>
            </a:r>
            <a:r>
              <a:rPr lang="en-US" sz="950" b="1" dirty="0">
                <a:solidFill>
                  <a:srgbClr val="E87722"/>
                </a:solidFill>
              </a:rPr>
              <a:t>Approval: </a:t>
            </a:r>
            <a:r>
              <a:rPr lang="en-US" sz="950" dirty="0">
                <a:solidFill>
                  <a:srgbClr val="FFFFFF"/>
                </a:solidFill>
              </a:rPr>
              <a:t>Internal Process Owners (CEO · General Manager · Senior Systems Administrator)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50" name="Text 47"/>
          <p:cNvSpPr/>
          <p:nvPr/>
        </p:nvSpPr>
        <p:spPr>
          <a:xfrm>
            <a:off x="27432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Payroll Consults Africa Limited  |  Confidential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5943600" y="49011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Item 6 — Change Management</a:t>
            </a:r>
            <a:endParaRPr lang="en-US" sz="8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DC09BA09-941C-5CBA-B03B-9F7B3C2D7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77"/>
            <a:ext cx="2194560" cy="5573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Any Other Business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2743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87722"/>
                </a:solidFill>
              </a:rPr>
              <a:t>&amp; Closure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2377440"/>
            <a:ext cx="32004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</a:rPr>
              <a:t>Open Items / Pending Actions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" y="2907792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D0B0"/>
                </a:solidFill>
              </a:rPr>
              <a:t>On-Going: Patch Management Policy (PCA-PMP-001) — in development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D0B0"/>
                </a:solidFill>
              </a:rPr>
              <a:t>On-Going: Incident Management Policy (PCA-IMP-001) — in development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D0B0"/>
                </a:solidFill>
              </a:rPr>
              <a:t>Open items from the last Stanbic assurance review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5488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</a:rPr>
              <a:t>Document Suite Issued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0" y="2907792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D0B0"/>
                </a:solidFill>
              </a:rPr>
              <a:t>PCA-CMP-001  Change Management Process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D0B0"/>
                </a:solidFill>
              </a:rPr>
              <a:t>PCA-IAM-001  IAM Policy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D0B0"/>
                </a:solidFill>
              </a:rPr>
              <a:t>PCA-PAM-001  PAM Policy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D0B0"/>
                </a:solidFill>
              </a:rPr>
              <a:t>PCA-VMP-001  Vulnerability Management Policy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D0B0"/>
                </a:solidFill>
              </a:rPr>
              <a:t>PCA-BCP-001  Business Continuity Plan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4320" y="4434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7722"/>
                </a:solidFill>
              </a:rPr>
              <a:t>Thank you — Payroll Consults Africa Limited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4880C5-B706-F2AC-2C4B-24054CA93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77"/>
            <a:ext cx="2194560" cy="5573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815</Words>
  <Application>Microsoft Office PowerPoint</Application>
  <PresentationFormat>On-screen Show (16:9)</PresentationFormat>
  <Paragraphs>168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PCA Stanbic Risk Team Onsite Visit</dc:title>
  <dc:subject>PptxGenJS Presentation</dc:subject>
  <dc:creator>Tuza John</dc:creator>
  <cp:lastModifiedBy>John Tuza</cp:lastModifiedBy>
  <cp:revision>4</cp:revision>
  <dcterms:created xsi:type="dcterms:W3CDTF">2026-06-03T15:47:43Z</dcterms:created>
  <dcterms:modified xsi:type="dcterms:W3CDTF">2026-06-04T06:02:05Z</dcterms:modified>
</cp:coreProperties>
</file>